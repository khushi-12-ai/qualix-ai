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1645920"/>
            <a:ext cx="3566160" cy="3566160"/>
          </a:xfrm>
          <a:prstGeom prst="ellipse">
            <a:avLst/>
          </a:prstGeom>
          <a:noFill/>
          <a:ln w="1524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29400" y="2057400"/>
            <a:ext cx="2743200" cy="2743200"/>
          </a:xfrm>
          <a:prstGeom prst="ellipse">
            <a:avLst/>
          </a:prstGeom>
          <a:noFill/>
          <a:ln w="15240">
            <a:solidFill>
              <a:srgbClr val="102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0" y="2468880"/>
            <a:ext cx="1920240" cy="1920240"/>
          </a:xfrm>
          <a:prstGeom prst="ellipse">
            <a:avLst/>
          </a:prstGeom>
          <a:noFill/>
          <a:ln w="15240">
            <a:solidFill>
              <a:srgbClr val="164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2360" y="2880360"/>
            <a:ext cx="1097280" cy="1097280"/>
          </a:xfrm>
          <a:prstGeom prst="ellipse">
            <a:avLst/>
          </a:prstGeom>
          <a:noFill/>
          <a:ln w="15240"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7955279" y="2468880"/>
            <a:ext cx="1828801" cy="960120"/>
          </a:xfrm>
          <a:prstGeom prst="line">
            <a:avLst/>
          </a:prstGeom>
          <a:ln w="1016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601200" y="1463040"/>
            <a:ext cx="182880" cy="1965960"/>
          </a:xfrm>
          <a:prstGeom prst="line">
            <a:avLst/>
          </a:prstGeom>
          <a:ln w="1016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84080" y="3200400"/>
            <a:ext cx="1005840" cy="228600"/>
          </a:xfrm>
          <a:prstGeom prst="line">
            <a:avLst/>
          </a:prstGeom>
          <a:ln w="1016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235440" y="3429000"/>
            <a:ext cx="548640" cy="1691640"/>
          </a:xfrm>
          <a:prstGeom prst="line">
            <a:avLst/>
          </a:prstGeom>
          <a:ln w="1016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84080" y="3429000"/>
            <a:ext cx="1463040" cy="1508760"/>
          </a:xfrm>
          <a:prstGeom prst="line">
            <a:avLst/>
          </a:prstGeom>
          <a:ln w="1016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891271" y="2404872"/>
            <a:ext cx="128016" cy="128016"/>
          </a:xfrm>
          <a:prstGeom prst="ellipse">
            <a:avLst/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37192" y="1399032"/>
            <a:ext cx="128016" cy="128016"/>
          </a:xfrm>
          <a:prstGeom prst="ellipse">
            <a:avLst/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25912" y="3136392"/>
            <a:ext cx="128016" cy="128016"/>
          </a:xfrm>
          <a:prstGeom prst="ellipse">
            <a:avLst/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71432" y="5056631"/>
            <a:ext cx="128016" cy="128016"/>
          </a:xfrm>
          <a:prstGeom prst="ellipse">
            <a:avLst/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83112" y="4873752"/>
            <a:ext cx="128016" cy="128016"/>
          </a:xfrm>
          <a:prstGeom prst="ellipse">
            <a:avLst/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0072" y="3364992"/>
            <a:ext cx="128016" cy="128016"/>
          </a:xfrm>
          <a:prstGeom prst="ellipse">
            <a:avLst/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77724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845819"/>
            <a:ext cx="1399031" cy="14630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071A2E"/>
                </a:solidFill>
                <a:latin typeface="Aptos"/>
              </a:defRPr>
            </a:pPr>
            <a:r>
              <a:t>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1417320"/>
            <a:ext cx="5943600" cy="594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3800" b="1">
                <a:solidFill>
                  <a:srgbClr val="F5FAFF"/>
                </a:solidFill>
                <a:latin typeface="Aptos"/>
              </a:defRPr>
            </a:pPr>
            <a:r>
              <a:t>QUALIX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103120"/>
            <a:ext cx="6126480" cy="11704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37D6E6"/>
                </a:solidFill>
                <a:latin typeface="Aptos"/>
              </a:defRPr>
            </a:pPr>
            <a:r>
              <a:t>Secure AI Readiness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37D6E6"/>
                </a:solidFill>
                <a:latin typeface="Aptos"/>
              </a:defRPr>
            </a:pPr>
            <a:r>
              <a:t>Operating System for MSMEs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11880"/>
            <a:ext cx="5257800" cy="5303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9BED0"/>
                </a:solidFill>
                <a:latin typeface="Aptos"/>
              </a:defRPr>
            </a:pPr>
            <a:r>
              <a:t>Transforming raw business data into a trusted foundation for AI, BI, and better decisions.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4572000"/>
            <a:ext cx="5193792" cy="0"/>
          </a:xfrm>
          <a:prstGeom prst="line">
            <a:avLst/>
          </a:prstGeom>
          <a:ln w="1270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9808" y="4791456"/>
            <a:ext cx="530352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50" b="1">
                <a:solidFill>
                  <a:srgbClr val="54E3B2"/>
                </a:solidFill>
                <a:latin typeface="Aptos"/>
              </a:defRPr>
            </a:pPr>
            <a:r>
              <a:t>DATA QUALITY  •  SECURITY  • 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17220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A9BED0"/>
                </a:solidFill>
                <a:latin typeface="Aptos"/>
              </a:defRPr>
            </a:pPr>
            <a:r>
              <a:t>August 2026  |  MSME Data Readiness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The AI ambition is real. The data foundation isn’t.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389888"/>
            <a:ext cx="75895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9BED0"/>
                </a:solidFill>
                <a:latin typeface="Aptos"/>
              </a:defRPr>
            </a:pPr>
            <a:r>
              <a:t>MSME data lives across spreadsheets, POS exports, Tally ledgers and CRM dumps—often inconsistent, incomplete and unsafe to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148840"/>
            <a:ext cx="3611880" cy="1207008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2148840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340864"/>
            <a:ext cx="317296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734056"/>
            <a:ext cx="3154680" cy="49377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Revenue projections are structurally under-reported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2148840"/>
            <a:ext cx="3611880" cy="1207008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09159" y="2148840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CE5C"/>
          </a:solidFill>
          <a:ln>
            <a:solidFill>
              <a:srgbClr val="FFC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2340864"/>
            <a:ext cx="317296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Fuzzy duplicates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2734056"/>
            <a:ext cx="3154680" cy="49377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Customer counts inflate; campaigns miss the 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03320"/>
            <a:ext cx="3611880" cy="1207008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3703320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8167F5"/>
          </a:solidFill>
          <a:ln>
            <a:solidFill>
              <a:srgbClr val="816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895344"/>
            <a:ext cx="317296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Schema mismatch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88536"/>
            <a:ext cx="3154680" cy="49377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ERP + CRM merges fail silently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59" y="3703320"/>
            <a:ext cx="3611880" cy="1207008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9159" y="3703320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59" y="3895344"/>
            <a:ext cx="317296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No security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4288536"/>
            <a:ext cx="3154680" cy="49377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Uploaded datasets create threat exposure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1417320"/>
            <a:ext cx="2286000" cy="411480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98864" y="1828800"/>
            <a:ext cx="169164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37D6E6"/>
                </a:solidFill>
                <a:latin typeface="Aptos"/>
              </a:defRPr>
            </a:pPr>
            <a:r>
              <a:t>ROOT</a:t>
            </a:r>
          </a:p>
          <a:p>
            <a:pPr algn="ctr">
              <a:spcAft>
                <a:spcPts val="200"/>
              </a:spcAft>
              <a:defRPr sz="2000" b="1">
                <a:solidFill>
                  <a:srgbClr val="37D6E6"/>
                </a:solidFill>
                <a:latin typeface="Aptos"/>
              </a:defRPr>
            </a:pPr>
            <a:r>
              <a:t>CAUSE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90304" y="2724912"/>
            <a:ext cx="1545336" cy="0"/>
          </a:xfrm>
          <a:prstGeom prst="line">
            <a:avLst/>
          </a:prstGeom>
          <a:ln w="127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89720" y="2999232"/>
            <a:ext cx="1783080" cy="11430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No unified, automated way to diagnose raw data and translate issues into business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Qualix AI: the AI Data Doctor for MSMEs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353312"/>
            <a:ext cx="758952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9BED0"/>
                </a:solidFill>
                <a:latin typeface="Aptos"/>
              </a:defRPr>
            </a:pPr>
            <a:r>
              <a:t>One secure workspace to assess, improve and continuously monitor business data—without needing a data scientist.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029968"/>
            <a:ext cx="2423160" cy="126187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194560"/>
            <a:ext cx="3200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496312"/>
            <a:ext cx="201168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5FAFF"/>
                </a:solidFill>
                <a:latin typeface="Aptos"/>
              </a:defRPr>
            </a:pPr>
            <a:r>
              <a:t>Readiness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70632"/>
            <a:ext cx="205740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19" b="0">
                <a:solidFill>
                  <a:srgbClr val="A9BED0"/>
                </a:solidFill>
                <a:latin typeface="Aptos"/>
              </a:defRPr>
            </a:pPr>
            <a:r>
              <a:t>Definitive 0–100 pipeline viability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029968"/>
            <a:ext cx="2423160" cy="126187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2194560"/>
            <a:ext cx="3200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496312"/>
            <a:ext cx="201168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5FAFF"/>
                </a:solidFill>
                <a:latin typeface="Aptos"/>
              </a:defRPr>
            </a:pPr>
            <a:r>
              <a:t>Fix 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2770632"/>
            <a:ext cx="205740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19" b="0">
                <a:solidFill>
                  <a:srgbClr val="A9BED0"/>
                </a:solidFill>
                <a:latin typeface="Aptos"/>
              </a:defRPr>
            </a:pPr>
            <a:r>
              <a:t>Plain-language remediation for teams and executives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2029968"/>
            <a:ext cx="2423160" cy="126187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194560"/>
            <a:ext cx="3200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496312"/>
            <a:ext cx="201168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5FAFF"/>
                </a:solidFill>
                <a:latin typeface="Aptos"/>
              </a:defRPr>
            </a:pPr>
            <a:r>
              <a:t>Smart Merge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770632"/>
            <a:ext cx="205740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19" b="0">
                <a:solidFill>
                  <a:srgbClr val="A9BED0"/>
                </a:solidFill>
                <a:latin typeface="Aptos"/>
              </a:defRPr>
            </a:pPr>
            <a:r>
              <a:t>Unified view across fragmented datasets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657600"/>
            <a:ext cx="2423160" cy="126187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822191"/>
            <a:ext cx="3200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123944"/>
            <a:ext cx="201168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5FAFF"/>
                </a:solidFill>
                <a:latin typeface="Aptos"/>
              </a:defRPr>
            </a:pPr>
            <a:r>
              <a:t>Trust by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98264"/>
            <a:ext cx="205740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19" b="0">
                <a:solidFill>
                  <a:srgbClr val="A9BED0"/>
                </a:solidFill>
                <a:latin typeface="Aptos"/>
              </a:defRPr>
            </a:pPr>
            <a:r>
              <a:t>ClamAV scan + AES-256 encryption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3657600"/>
            <a:ext cx="2423160" cy="126187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3822191"/>
            <a:ext cx="3200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123944"/>
            <a:ext cx="201168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5FAFF"/>
                </a:solidFill>
                <a:latin typeface="Aptos"/>
              </a:defRPr>
            </a:pPr>
            <a:r>
              <a:t>Executive Translation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398264"/>
            <a:ext cx="205740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19" b="0">
                <a:solidFill>
                  <a:srgbClr val="A9BED0"/>
                </a:solidFill>
                <a:latin typeface="Aptos"/>
              </a:defRPr>
            </a:pPr>
            <a:r>
              <a:t>Technical errors → business risks in 11 languages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657600"/>
            <a:ext cx="2423160" cy="126187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822191"/>
            <a:ext cx="3200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123944"/>
            <a:ext cx="201168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F5FAFF"/>
                </a:solidFill>
                <a:latin typeface="Aptos"/>
              </a:defRPr>
            </a:pPr>
            <a:r>
              <a:t>Proof &amp; Monitoring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398264"/>
            <a:ext cx="205740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19" b="0">
                <a:solidFill>
                  <a:srgbClr val="A9BED0"/>
                </a:solidFill>
                <a:latin typeface="Aptos"/>
              </a:defRPr>
            </a:pPr>
            <a:r>
              <a:t>Tamper-proof certificate and health alerts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9408" y="2029968"/>
            <a:ext cx="2331720" cy="2889504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79408" y="2029968"/>
            <a:ext cx="64008" cy="2889504"/>
          </a:xfrm>
          <a:prstGeom prst="roundRect">
            <a:avLst>
              <a:gd name="adj" fmla="val 12000"/>
            </a:avLst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08008" y="2221992"/>
            <a:ext cx="1892807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8008" y="2615184"/>
            <a:ext cx="1874519" cy="21762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From raw files to a governed, decision-ready data asset.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READINESS SCORING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One score. Five dimensions. Clear next steps.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965960"/>
            <a:ext cx="1389888" cy="24688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286000"/>
            <a:ext cx="109728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37D6E6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2926080"/>
            <a:ext cx="114300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5FAFF"/>
                </a:solidFill>
                <a:latin typeface="Aptos"/>
              </a:defRPr>
            </a:pPr>
            <a:r>
              <a:t>Completeness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502152"/>
            <a:ext cx="1078992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A9BED0"/>
                </a:solidFill>
                <a:latin typeface="Aptos"/>
              </a:defRPr>
            </a:pPr>
            <a:r>
              <a:t>Non-null cells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114800"/>
            <a:ext cx="987552" cy="64008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04872" y="1965960"/>
            <a:ext cx="1389888" cy="24688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42032" y="2286000"/>
            <a:ext cx="109728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54E3B2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2926080"/>
            <a:ext cx="114300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5FAFF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51176" y="3502152"/>
            <a:ext cx="1078992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A9BED0"/>
                </a:solidFill>
                <a:latin typeface="Aptos"/>
              </a:defRPr>
            </a:pPr>
            <a:r>
              <a:t>Formats &amp; type conflicts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4114800"/>
            <a:ext cx="987552" cy="64008"/>
          </a:xfrm>
          <a:prstGeom prst="roundRect">
            <a:avLst>
              <a:gd name="adj" fmla="val 12000"/>
            </a:avLst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78224" y="1965960"/>
            <a:ext cx="1389888" cy="24688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5384" y="2286000"/>
            <a:ext cx="109728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8167F5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7096" y="2926080"/>
            <a:ext cx="114300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5FAFF"/>
                </a:solidFill>
                <a:latin typeface="Aptos"/>
              </a:defRPr>
            </a:pPr>
            <a:r>
              <a:t>Duplication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3502152"/>
            <a:ext cx="1078992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A9BED0"/>
                </a:solidFill>
                <a:latin typeface="Aptos"/>
              </a:defRPr>
            </a:pPr>
            <a:r>
              <a:t>Exact + fuzzy repeats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4114800"/>
            <a:ext cx="987552" cy="64008"/>
          </a:xfrm>
          <a:prstGeom prst="roundRect">
            <a:avLst>
              <a:gd name="adj" fmla="val 12000"/>
            </a:avLst>
          </a:prstGeom>
          <a:solidFill>
            <a:srgbClr val="8167F5"/>
          </a:solidFill>
          <a:ln>
            <a:solidFill>
              <a:srgbClr val="816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751576" y="1965960"/>
            <a:ext cx="1389888" cy="24688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88736" y="2286000"/>
            <a:ext cx="109728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CE5C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2926080"/>
            <a:ext cx="114300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5FAFF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502152"/>
            <a:ext cx="1078992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A9BED0"/>
                </a:solidFill>
                <a:latin typeface="Aptos"/>
              </a:defRPr>
            </a:pPr>
            <a:r>
              <a:t>Schema adherence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52744" y="4114800"/>
            <a:ext cx="987552" cy="64008"/>
          </a:xfrm>
          <a:prstGeom prst="roundRect">
            <a:avLst>
              <a:gd name="adj" fmla="val 12000"/>
            </a:avLst>
          </a:prstGeom>
          <a:solidFill>
            <a:srgbClr val="FFCE5C"/>
          </a:solidFill>
          <a:ln>
            <a:solidFill>
              <a:srgbClr val="FFC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24928" y="1965960"/>
            <a:ext cx="1389888" cy="24688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2088" y="2286000"/>
            <a:ext cx="109728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6B6B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2926080"/>
            <a:ext cx="114300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5FAFF"/>
                </a:solidFill>
                <a:latin typeface="Aptos"/>
              </a:defRPr>
            </a:pPr>
            <a:r>
              <a:t>Anomaly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1232" y="3502152"/>
            <a:ext cx="1078992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50" b="0">
                <a:solidFill>
                  <a:srgbClr val="A9BED0"/>
                </a:solidFill>
                <a:latin typeface="Aptos"/>
              </a:defRPr>
            </a:pPr>
            <a:r>
              <a:t>IQR outliers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6096" y="4114800"/>
            <a:ext cx="987552" cy="64008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1520" y="5029200"/>
            <a:ext cx="8101583" cy="749808"/>
          </a:xfrm>
          <a:prstGeom prst="roundRect">
            <a:avLst>
              <a:gd name="adj" fmla="val 12000"/>
            </a:avLst>
          </a:prstGeom>
          <a:solidFill>
            <a:srgbClr val="0B2138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239512"/>
            <a:ext cx="754380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ML Readiness = weighted base × 0.8  − 25 (target leakage)  − 15 (class imbalance &gt;80%)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81160" y="1965960"/>
            <a:ext cx="1874519" cy="3520440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4040" y="2542032"/>
            <a:ext cx="150876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2900" b="1">
                <a:solidFill>
                  <a:srgbClr val="071A2E"/>
                </a:solidFill>
                <a:latin typeface="Aptos"/>
              </a:defRPr>
            </a:pPr>
            <a:r>
              <a:t>0–100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3246120"/>
            <a:ext cx="1508760" cy="6217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071A2E"/>
                </a:solidFill>
                <a:latin typeface="Aptos"/>
              </a:defRPr>
            </a:pPr>
            <a:r>
              <a:t>Readiness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071A2E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4251960"/>
            <a:ext cx="150876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071A2E"/>
                </a:solidFill>
                <a:latin typeface="Aptos"/>
              </a:defRPr>
            </a:pPr>
            <a:r>
              <a:t>clamped at 10–100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Secure data journey: from upload to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148840"/>
            <a:ext cx="1517904" cy="15544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24712" y="18653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1943100"/>
            <a:ext cx="393192" cy="137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1A2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532888"/>
            <a:ext cx="1261872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07792"/>
            <a:ext cx="1280160" cy="3931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30" b="0">
                <a:solidFill>
                  <a:srgbClr val="A9BED0"/>
                </a:solidFill>
                <a:latin typeface="Aptos"/>
              </a:defRPr>
            </a:pPr>
            <a:r>
              <a:t>Tally · POS · CRM · files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03120" y="2916936"/>
            <a:ext cx="310896" cy="0"/>
          </a:xfrm>
          <a:prstGeom prst="line">
            <a:avLst/>
          </a:prstGeom>
          <a:ln w="254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468880" y="2148840"/>
            <a:ext cx="1517904" cy="15544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26664" y="18653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6664" y="1943100"/>
            <a:ext cx="393192" cy="137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1A2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2532888"/>
            <a:ext cx="1261872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7752" y="2907792"/>
            <a:ext cx="1280160" cy="3931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30" b="0">
                <a:solidFill>
                  <a:srgbClr val="A9BED0"/>
                </a:solidFill>
                <a:latin typeface="Aptos"/>
              </a:defRPr>
            </a:pPr>
            <a:r>
              <a:t>ClamAV scan + encryption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05072" y="2916936"/>
            <a:ext cx="310896" cy="0"/>
          </a:xfrm>
          <a:prstGeom prst="line">
            <a:avLst/>
          </a:prstGeom>
          <a:ln w="254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370832" y="2148840"/>
            <a:ext cx="1517904" cy="15544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28616" y="18653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8616" y="1943100"/>
            <a:ext cx="393192" cy="137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1A2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2532888"/>
            <a:ext cx="1261872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Unify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9704" y="2907792"/>
            <a:ext cx="1280160" cy="3931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30" b="0">
                <a:solidFill>
                  <a:srgbClr val="A9BED0"/>
                </a:solidFill>
                <a:latin typeface="Aptos"/>
              </a:defRPr>
            </a:pPr>
            <a:r>
              <a:t>Smart merge + reconciliation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07024" y="2916936"/>
            <a:ext cx="310896" cy="0"/>
          </a:xfrm>
          <a:prstGeom prst="line">
            <a:avLst/>
          </a:prstGeom>
          <a:ln w="254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72784" y="2148840"/>
            <a:ext cx="1517904" cy="15544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30568" y="18653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0568" y="1943100"/>
            <a:ext cx="393192" cy="137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1A2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532888"/>
            <a:ext cx="1261872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2907792"/>
            <a:ext cx="1280160" cy="3931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30" b="0">
                <a:solidFill>
                  <a:srgbClr val="A9BED0"/>
                </a:solidFill>
                <a:latin typeface="Aptos"/>
              </a:defRPr>
            </a:pPr>
            <a:r>
              <a:t>Stats, schema &amp; distributions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08976" y="2916936"/>
            <a:ext cx="310896" cy="0"/>
          </a:xfrm>
          <a:prstGeom prst="line">
            <a:avLst/>
          </a:prstGeom>
          <a:ln w="254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174736" y="2148840"/>
            <a:ext cx="1517904" cy="15544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732519" y="18653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19" y="1943100"/>
            <a:ext cx="393192" cy="137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1A2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2532888"/>
            <a:ext cx="1261872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8" y="2907792"/>
            <a:ext cx="1280160" cy="3931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30" b="0">
                <a:solidFill>
                  <a:srgbClr val="A9BED0"/>
                </a:solidFill>
                <a:latin typeface="Aptos"/>
              </a:defRPr>
            </a:pPr>
            <a:r>
              <a:t>5D audit + ML readiness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710928" y="2916936"/>
            <a:ext cx="310896" cy="0"/>
          </a:xfrm>
          <a:prstGeom prst="line">
            <a:avLst/>
          </a:prstGeom>
          <a:ln w="254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076688" y="2148840"/>
            <a:ext cx="1517904" cy="15544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634472" y="1865376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34472" y="1943100"/>
            <a:ext cx="393192" cy="1371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1A2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04704" y="2532888"/>
            <a:ext cx="1261872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5560" y="2907792"/>
            <a:ext cx="1280160" cy="3931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30" b="0">
                <a:solidFill>
                  <a:srgbClr val="A9BED0"/>
                </a:solidFill>
                <a:latin typeface="Aptos"/>
              </a:defRPr>
            </a:pPr>
            <a:r>
              <a:t>Fixes, alerts &amp; certificate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4773168"/>
            <a:ext cx="992124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54E3B2"/>
                </a:solidFill>
                <a:latin typeface="Aptos"/>
              </a:defRPr>
            </a:pPr>
            <a:r>
              <a:t>Clean datasets move forward. Infected files are rejected and the user is alerted immediately.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SECURITY &amp;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Zero-trust ingestion protects every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554480"/>
            <a:ext cx="3337560" cy="342900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1554480"/>
            <a:ext cx="64008" cy="3429000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1746504"/>
            <a:ext cx="289864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01  Malware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139696"/>
            <a:ext cx="2880360" cy="2715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Every uploaded file is scanned with ClamAV before it reaches the processing layer. Infected files are rejected and logged.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1554480"/>
            <a:ext cx="3337560" cy="342900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07408" y="1554480"/>
            <a:ext cx="64008" cy="3429000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1746504"/>
            <a:ext cx="289864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02  Encryption at 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2139696"/>
            <a:ext cx="2880360" cy="2715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Clean files are protected with Fernet AES-256 encryption. Processing occurs in memory to balance safety and speed.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1554480"/>
            <a:ext cx="3337560" cy="342900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83296" y="1554480"/>
            <a:ext cx="64008" cy="3429000"/>
          </a:xfrm>
          <a:prstGeom prst="roundRect">
            <a:avLst>
              <a:gd name="adj" fmla="val 12000"/>
            </a:avLst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1746504"/>
            <a:ext cx="289864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03  Responsible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139696"/>
            <a:ext cx="2880360" cy="2715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PII and financial fields are classified, masked by role, and recorded in immutable audit logs.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23560"/>
            <a:ext cx="10149840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Admin  →  full access     Analyst  →  PII-masked     Viewer  →  dashboard &amp;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MULTILINGUAL IMPACT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Technical findings become business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353312"/>
            <a:ext cx="7772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9BED0"/>
                </a:solidFill>
                <a:latin typeface="Aptos"/>
              </a:defRPr>
            </a:pPr>
            <a:r>
              <a:t>Qualix translates data-quality issues into clear executive impact statements in 11 regional languages.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196596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2048255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29967" y="196596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5687" y="2048255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Hindi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0127" y="196596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5847" y="2048255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Tamil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0288" y="196596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7" y="2048255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Telugu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196596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16168" y="2048255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Kannada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50608" y="196596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048255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Malayalam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246888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2551176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Marathi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29967" y="246888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7" y="2551176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Bengali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0127" y="246888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55847" y="2551176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Gujarati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90288" y="246888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36007" y="2551176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Punjabi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70448" y="2468880"/>
            <a:ext cx="1078992" cy="310896"/>
          </a:xfrm>
          <a:prstGeom prst="roundRect">
            <a:avLst>
              <a:gd name="adj" fmla="val 12000"/>
            </a:avLst>
          </a:prstGeom>
          <a:solidFill>
            <a:srgbClr val="163B57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16168" y="2551176"/>
            <a:ext cx="987552" cy="1188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5FAFF"/>
                </a:solidFill>
                <a:latin typeface="Aptos"/>
              </a:defRPr>
            </a:pPr>
            <a:r>
              <a:t>Odia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3493008"/>
            <a:ext cx="6766560" cy="141732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" y="3730752"/>
            <a:ext cx="630936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37D6E6"/>
                </a:solidFill>
                <a:latin typeface="Aptos"/>
              </a:defRPr>
            </a:pPr>
            <a:r>
              <a:t>Example: Missing customer contacts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" y="4123944"/>
            <a:ext cx="6172200" cy="42062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F5FAFF"/>
                </a:solidFill>
                <a:latin typeface="Aptos"/>
              </a:defRPr>
            </a:pPr>
            <a:r>
              <a:t>“Your customer follow-up may be incomplete, creating a risk of missed sales and lower campaign reach.”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09560" y="1572768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09560" y="1572768"/>
            <a:ext cx="64008" cy="71323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1764792"/>
            <a:ext cx="271576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157984"/>
            <a:ext cx="2697480" cy="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What went wrong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09560" y="2505456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09560" y="2505456"/>
            <a:ext cx="64008" cy="713232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2697480"/>
            <a:ext cx="271576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Business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3090672"/>
            <a:ext cx="2697480" cy="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09560" y="3438144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09560" y="3438144"/>
            <a:ext cx="64008" cy="713232"/>
          </a:xfrm>
          <a:prstGeom prst="roundRect">
            <a:avLst>
              <a:gd name="adj" fmla="val 12000"/>
            </a:avLst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3630168"/>
            <a:ext cx="271576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023359"/>
            <a:ext cx="2697480" cy="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What to do next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09560" y="4370832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909560" y="4370832"/>
            <a:ext cx="64008" cy="713232"/>
          </a:xfrm>
          <a:prstGeom prst="roundRect">
            <a:avLst>
              <a:gd name="adj" fmla="val 12000"/>
            </a:avLst>
          </a:prstGeom>
          <a:solidFill>
            <a:srgbClr val="FFCE5C"/>
          </a:solidFill>
          <a:ln>
            <a:solidFill>
              <a:srgbClr val="FFC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4562856"/>
            <a:ext cx="2715768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4956048"/>
            <a:ext cx="2697480" cy="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How urgently to 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Built as a modular, production-minded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508760"/>
            <a:ext cx="7406640" cy="749808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1508760"/>
            <a:ext cx="91440" cy="749808"/>
          </a:xfrm>
          <a:prstGeom prst="rect">
            <a:avLst/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1700784"/>
            <a:ext cx="1874519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709928"/>
            <a:ext cx="48920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A9BED0"/>
                </a:solidFill>
                <a:latin typeface="Aptos"/>
              </a:defRPr>
            </a:pPr>
            <a:r>
              <a:t>Streamlit dashboard · AI Data Doctor · role-aware views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2532888"/>
            <a:ext cx="7406640" cy="749808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2532888"/>
            <a:ext cx="91440" cy="749808"/>
          </a:xfrm>
          <a:prstGeom prst="rect">
            <a:avLst/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2724912"/>
            <a:ext cx="1874519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API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2734056"/>
            <a:ext cx="48920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A9BED0"/>
                </a:solidFill>
                <a:latin typeface="Aptos"/>
              </a:defRPr>
            </a:pPr>
            <a:r>
              <a:t>FastAPI · scheduled monitoring · notification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557016"/>
            <a:ext cx="7406640" cy="749808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557016"/>
            <a:ext cx="91440" cy="749808"/>
          </a:xfrm>
          <a:prstGeom prst="rect">
            <a:avLst/>
          </a:prstGeom>
          <a:solidFill>
            <a:srgbClr val="8167F5"/>
          </a:solidFill>
          <a:ln>
            <a:solidFill>
              <a:srgbClr val="816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3749040"/>
            <a:ext cx="1874519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Data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3758184"/>
            <a:ext cx="48920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A9BED0"/>
                </a:solidFill>
                <a:latin typeface="Aptos"/>
              </a:defRPr>
            </a:pPr>
            <a:r>
              <a:t>Profiling · 5D quality · ML readiness · anomaly &amp; duplicate detection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581144"/>
            <a:ext cx="7406640" cy="749808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4581144"/>
            <a:ext cx="91440" cy="749808"/>
          </a:xfrm>
          <a:prstGeom prst="rect">
            <a:avLst/>
          </a:prstGeom>
          <a:solidFill>
            <a:srgbClr val="FFCE5C"/>
          </a:solidFill>
          <a:ln>
            <a:solidFill>
              <a:srgbClr val="FFC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4773168"/>
            <a:ext cx="1874519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Trust &amp; 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782312"/>
            <a:ext cx="48920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A9BED0"/>
                </a:solidFill>
                <a:latin typeface="Aptos"/>
              </a:defRPr>
            </a:pPr>
            <a:r>
              <a:t>ClamAV · Fernet AES-256 · PII masking · audit log · PDF certificate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13648" y="1508760"/>
            <a:ext cx="2514600" cy="3858768"/>
          </a:xfrm>
          <a:prstGeom prst="roundRect">
            <a:avLst>
              <a:gd name="adj" fmla="val 12000"/>
            </a:avLst>
          </a:prstGeom>
          <a:solidFill>
            <a:srgbClr val="0B2138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8" y="1856231"/>
            <a:ext cx="1920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3500" b="1">
                <a:solidFill>
                  <a:srgbClr val="37D6E6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2487168"/>
            <a:ext cx="19202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5FAFF"/>
                </a:solidFill>
                <a:latin typeface="Aptos"/>
              </a:defRPr>
            </a:pPr>
            <a:r>
              <a:t>focused service modules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06840" y="2944368"/>
            <a:ext cx="1709928" cy="0"/>
          </a:xfrm>
          <a:prstGeom prst="line">
            <a:avLst/>
          </a:prstGeom>
          <a:ln w="127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887968" y="3310128"/>
            <a:ext cx="1920240" cy="7132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A9BED0"/>
                </a:solidFill>
                <a:latin typeface="Aptos"/>
              </a:defRPr>
            </a:pPr>
            <a:r>
              <a:t>Designed for clear responsibility, easier testing, and future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SUGGESTED LIVE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A simple demo that tells a complete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993392"/>
            <a:ext cx="2240280" cy="22402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212848"/>
            <a:ext cx="384048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697480"/>
            <a:ext cx="182880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5FAFF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191256"/>
            <a:ext cx="1847088" cy="4754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A9BED0"/>
                </a:solidFill>
                <a:latin typeface="Aptos"/>
              </a:defRPr>
            </a:pPr>
            <a:r>
              <a:t>Add CSV/Excel from POS, CRM or Tally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3108960"/>
            <a:ext cx="338328" cy="0"/>
          </a:xfrm>
          <a:prstGeom prst="line">
            <a:avLst/>
          </a:prstGeom>
          <a:ln w="254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47288" y="1993392"/>
            <a:ext cx="2240280" cy="22402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2212848"/>
            <a:ext cx="384048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2697480"/>
            <a:ext cx="182880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5FAFF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3191256"/>
            <a:ext cx="1847088" cy="4754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A9BED0"/>
                </a:solidFill>
                <a:latin typeface="Aptos"/>
              </a:defRPr>
            </a:pPr>
            <a:r>
              <a:t>Inspect profile, quality dimensions and ML score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15000" y="3108960"/>
            <a:ext cx="338328" cy="0"/>
          </a:xfrm>
          <a:prstGeom prst="line">
            <a:avLst/>
          </a:prstGeom>
          <a:ln w="254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44768" y="1993392"/>
            <a:ext cx="2240280" cy="22402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212848"/>
            <a:ext cx="384048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697480"/>
            <a:ext cx="182880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5FA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191256"/>
            <a:ext cx="1847088" cy="4754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A9BED0"/>
                </a:solidFill>
                <a:latin typeface="Aptos"/>
              </a:defRPr>
            </a:pPr>
            <a:r>
              <a:t>Open the plain-language Fix Center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12480" y="3108960"/>
            <a:ext cx="338328" cy="0"/>
          </a:xfrm>
          <a:prstGeom prst="line">
            <a:avLst/>
          </a:prstGeom>
          <a:ln w="25400">
            <a:solidFill>
              <a:srgbClr val="54E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842248" y="1993392"/>
            <a:ext cx="2240280" cy="22402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25128" y="2212848"/>
            <a:ext cx="384048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37D6E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2697480"/>
            <a:ext cx="182880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5FAFF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3191256"/>
            <a:ext cx="1847088" cy="4754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A9BED0"/>
                </a:solidFill>
                <a:latin typeface="Aptos"/>
              </a:defRPr>
            </a:pPr>
            <a:r>
              <a:t>Download certificate and configure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074920"/>
            <a:ext cx="996696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54E3B2"/>
                </a:solidFill>
                <a:latin typeface="Aptos"/>
              </a:defRPr>
            </a:pPr>
            <a:r>
              <a:t>The payoff: the team leaves with an explainable score, a fix plan, and evidence of safe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05256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228600"/>
            <a:ext cx="0" cy="640080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6400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13716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1031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83464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56616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429768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02920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5760720"/>
            <a:ext cx="3108960" cy="0"/>
          </a:xfrm>
          <a:prstGeom prst="line">
            <a:avLst/>
          </a:prstGeom>
          <a:ln w="5715">
            <a:solidFill>
              <a:srgbClr val="1B3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75488"/>
            <a:ext cx="91440" cy="576072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7200"/>
            <a:ext cx="27432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37D6E6"/>
                </a:solidFill>
                <a:latin typeface="Aptos"/>
              </a:defRPr>
            </a:pPr>
            <a:r>
              <a:t>CHALLENGES &amp;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94944"/>
            <a:ext cx="7955279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F5FAFF"/>
                </a:solidFill>
                <a:latin typeface="Aptos"/>
              </a:defRPr>
            </a:pPr>
            <a:r>
              <a:t>Designed for today’s MSME reality—and tomorrow’s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473952"/>
            <a:ext cx="237744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200"/>
              </a:spcAft>
              <a:defRPr sz="850" b="1">
                <a:solidFill>
                  <a:srgbClr val="A9BED0"/>
                </a:solidFill>
                <a:latin typeface="Aptos"/>
              </a:defRPr>
            </a:pPr>
            <a:r>
              <a:t>QUALIX AI  / 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417320"/>
            <a:ext cx="365760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7D6E6"/>
                </a:solidFill>
                <a:latin typeface="Aptos"/>
              </a:defRPr>
            </a:pPr>
            <a:r>
              <a:t>NOW  /  key execution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417320"/>
            <a:ext cx="365760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54E3B2"/>
                </a:solidFill>
                <a:latin typeface="Aptos"/>
              </a:defRPr>
            </a:pPr>
            <a:r>
              <a:t>NEXT  /  roadmap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1828800"/>
            <a:ext cx="4892040" cy="8686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1828800"/>
            <a:ext cx="64008" cy="868680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2020824"/>
            <a:ext cx="4453127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Real-time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7" y="2414016"/>
            <a:ext cx="4434840" cy="155447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Normalize fragmented Tally, POS and CRM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2953512"/>
            <a:ext cx="4892040" cy="8686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" y="2953512"/>
            <a:ext cx="64008" cy="868680"/>
          </a:xfrm>
          <a:prstGeom prst="roundRect">
            <a:avLst>
              <a:gd name="adj" fmla="val 12000"/>
            </a:avLst>
          </a:prstGeom>
          <a:solidFill>
            <a:srgbClr val="FFCE5C"/>
          </a:solidFill>
          <a:ln>
            <a:solidFill>
              <a:srgbClr val="FFC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7" y="3145536"/>
            <a:ext cx="4453127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Schema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7" y="3538728"/>
            <a:ext cx="4434840" cy="155447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Catch changing source formats before merges break.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078224"/>
            <a:ext cx="4892040" cy="8686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" y="4078224"/>
            <a:ext cx="64008" cy="868680"/>
          </a:xfrm>
          <a:prstGeom prst="roundRect">
            <a:avLst>
              <a:gd name="adj" fmla="val 12000"/>
            </a:avLst>
          </a:prstGeom>
          <a:solidFill>
            <a:srgbClr val="8167F5"/>
          </a:solidFill>
          <a:ln>
            <a:solidFill>
              <a:srgbClr val="816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7" y="4270248"/>
            <a:ext cx="4453127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Alert fatigue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7" y="4663440"/>
            <a:ext cx="4434840" cy="155447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Escalate meaningful changes, not every minor fluctuation.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828800"/>
            <a:ext cx="4892040" cy="8686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1828800"/>
            <a:ext cx="64008" cy="868680"/>
          </a:xfrm>
          <a:prstGeom prst="roundRect">
            <a:avLst>
              <a:gd name="adj" fmla="val 12000"/>
            </a:avLst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020824"/>
            <a:ext cx="4453127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Direct connectors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414016"/>
            <a:ext cx="4434840" cy="155447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MySQL, PostgreSQL, MongoDB, S3 &amp; Google Drive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953512"/>
            <a:ext cx="4892040" cy="8686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2953512"/>
            <a:ext cx="64008" cy="868680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145536"/>
            <a:ext cx="4453127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Generative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538728"/>
            <a:ext cx="4434840" cy="155447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Context-aware reports powered by local LLMs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078224"/>
            <a:ext cx="4892040" cy="868680"/>
          </a:xfrm>
          <a:prstGeom prst="roundRect">
            <a:avLst>
              <a:gd name="adj" fmla="val 12000"/>
            </a:avLst>
          </a:prstGeom>
          <a:solidFill>
            <a:srgbClr val="102E49"/>
          </a:solidFill>
          <a:ln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0" y="4078224"/>
            <a:ext cx="64008" cy="868680"/>
          </a:xfrm>
          <a:prstGeom prst="roundRect">
            <a:avLst>
              <a:gd name="adj" fmla="val 12000"/>
            </a:avLst>
          </a:prstGeom>
          <a:solidFill>
            <a:srgbClr val="8167F5"/>
          </a:solidFill>
          <a:ln>
            <a:solidFill>
              <a:srgbClr val="816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270248"/>
            <a:ext cx="4453127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5FAFF"/>
                </a:solidFill>
                <a:latin typeface="Aptos"/>
              </a:defRPr>
            </a:pPr>
            <a:r>
              <a:t>Distributed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663440"/>
            <a:ext cx="4434840" cy="155447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130" b="0">
                <a:solidFill>
                  <a:srgbClr val="A9BED0"/>
                </a:solidFill>
                <a:latin typeface="Aptos"/>
              </a:defRPr>
            </a:pPr>
            <a:r>
              <a:t>PySpark / Dask for larger-than-memory datasets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68680"/>
            <a:ext cx="91440" cy="4206240"/>
          </a:xfrm>
          <a:prstGeom prst="roundRect">
            <a:avLst>
              <a:gd name="adj" fmla="val 12000"/>
            </a:avLst>
          </a:prstGeom>
          <a:solidFill>
            <a:srgbClr val="37D6E6"/>
          </a:solidFill>
          <a:ln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097280"/>
            <a:ext cx="6858000" cy="1371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AI adoption starts with</a:t>
            </a:r>
          </a:p>
          <a:p>
            <a:pPr algn="l">
              <a:spcAft>
                <a:spcPts val="200"/>
              </a:spcAft>
              <a:defRPr sz="3400" b="1">
                <a:solidFill>
                  <a:srgbClr val="F5FAFF"/>
                </a:solidFill>
                <a:latin typeface="Aptos"/>
              </a:defRPr>
            </a:pPr>
            <a:r>
              <a:t>data you can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80360"/>
            <a:ext cx="580644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9BED0"/>
                </a:solidFill>
                <a:latin typeface="Aptos"/>
              </a:defRPr>
            </a:pPr>
            <a:r>
              <a:t>Qualix AI gives MSMEs a secure, explainable path from messy data to AI-ready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568" y="3931920"/>
            <a:ext cx="2880360" cy="310896"/>
          </a:xfrm>
          <a:prstGeom prst="roundRect">
            <a:avLst>
              <a:gd name="adj" fmla="val 12000"/>
            </a:avLst>
          </a:prstGeom>
          <a:solidFill>
            <a:srgbClr val="54E3B2"/>
          </a:solidFill>
          <a:ln>
            <a:solidFill>
              <a:srgbClr val="54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4000500"/>
            <a:ext cx="2770632" cy="14630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spcAft>
                <a:spcPts val="200"/>
              </a:spcAft>
              <a:defRPr sz="900" b="1">
                <a:solidFill>
                  <a:srgbClr val="071A2E"/>
                </a:solidFill>
                <a:latin typeface="Aptos"/>
              </a:defRPr>
            </a:pPr>
            <a:r>
              <a:t>SECURE  •  ACTIONABLE  •  MSME-READY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010912"/>
            <a:ext cx="301752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37D6E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696712"/>
            <a:ext cx="40233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A9BED0"/>
                </a:solidFill>
                <a:latin typeface="Aptos"/>
              </a:defRPr>
            </a:pPr>
            <a:r>
              <a:t>QUALIX AI  |  Hackathon 2026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1344168"/>
            <a:ext cx="4114800" cy="4114800"/>
          </a:xfrm>
          <a:prstGeom prst="ellipse">
            <a:avLst/>
          </a:prstGeom>
          <a:noFill/>
          <a:ln w="15240">
            <a:solidFill>
              <a:srgbClr val="1B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86600" y="1801368"/>
            <a:ext cx="3200400" cy="3200400"/>
          </a:xfrm>
          <a:prstGeom prst="ellipse">
            <a:avLst/>
          </a:prstGeom>
          <a:noFill/>
          <a:ln w="15240">
            <a:solidFill>
              <a:srgbClr val="102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89520" y="2304288"/>
            <a:ext cx="2194560" cy="2194560"/>
          </a:xfrm>
          <a:prstGeom prst="ellipse">
            <a:avLst/>
          </a:prstGeom>
          <a:noFill/>
          <a:ln w="15240">
            <a:solidFill>
              <a:srgbClr val="164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0" y="2761488"/>
            <a:ext cx="1280160" cy="1280160"/>
          </a:xfrm>
          <a:prstGeom prst="ellipse">
            <a:avLst/>
          </a:prstGeom>
          <a:noFill/>
          <a:ln w="15240">
            <a:solidFill>
              <a:srgbClr val="37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6949440" y="2103120"/>
            <a:ext cx="1737360" cy="1298448"/>
          </a:xfrm>
          <a:prstGeom prst="line">
            <a:avLst/>
          </a:prstGeom>
          <a:ln w="1143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686800" y="1417320"/>
            <a:ext cx="0" cy="1984248"/>
          </a:xfrm>
          <a:prstGeom prst="line">
            <a:avLst/>
          </a:prstGeom>
          <a:ln w="1143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686800" y="2148840"/>
            <a:ext cx="1554480" cy="1252728"/>
          </a:xfrm>
          <a:prstGeom prst="line">
            <a:avLst/>
          </a:prstGeom>
          <a:ln w="1143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86800" y="3401568"/>
            <a:ext cx="2011680" cy="621792"/>
          </a:xfrm>
          <a:prstGeom prst="line">
            <a:avLst/>
          </a:prstGeom>
          <a:ln w="1143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595360" y="3401568"/>
            <a:ext cx="91440" cy="1947672"/>
          </a:xfrm>
          <a:prstGeom prst="line">
            <a:avLst/>
          </a:prstGeom>
          <a:ln w="11430">
            <a:solidFill>
              <a:srgbClr val="37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Qualix AI — Secure AI Readiness Operating System</dc:title>
  <dc:subject>Hackathon Presentation</dc:subject>
  <dc:creator>Qualix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